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ActivitiesApp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4A90E2"/>
                </a:solidFill>
              </a:rPr>
              <a:t>SE 3630 / SE 3830 —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</a:rPr>
              <a:t>Samuel Schuetz  ·  Cael Church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AAAA"/>
                </a:solidFill>
              </a:rPr>
              <a:t>Discover local activities — nearby search, user events, maps, web + mobile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A90E2"/>
                </a:solidFill>
              </a:rPr>
              <a:t>SE 3630 — Mobile App Learning Outcomes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127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508760"/>
            <a:ext cx="2743200" cy="502920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AF50"/>
                </a:solidFill>
              </a:rPr>
              <a:t>Mobile Dev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2523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Built with .NET MAUI — one codebase, Android + iOS + Windows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Shared Razor pages via ActivitiesApp.Shared (Razor class library)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[screenshot: src/ActivitiesApp.Maui/MauiProgram.cs]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508760"/>
            <a:ext cx="2743200" cy="502920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160020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90E2"/>
                </a:solidFill>
              </a:rPr>
              <a:t>App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1965960"/>
            <a:ext cx="2523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MauiNetworkStatus hooks into IConnectivity.ConnectivityChanged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Offline cache syncs on reconnect via delta sync (PullChanges / PushChanges gRPC)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[screenshot: src/ActivitiesApp.Maui/Services/MauiNetworkStatus.cs]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08760"/>
            <a:ext cx="2743200" cy="502920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60020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C107"/>
                </a:solidFill>
              </a:rPr>
              <a:t>UI Layout &amp;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965960"/>
            <a:ext cx="2523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Shared Razor pages: Home, Activities, ActivityDetail, CreateActivity, Profile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Location popup, category pills, fuzzy search bar — all in Blazor Hybrid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[screenshot: src/ActivitiesApp.Shared/Pages/Home.razor lines 16–60]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508760"/>
            <a:ext cx="2743200" cy="502920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160020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050"/>
                </a:solidFill>
              </a:rPr>
              <a:t>Data Binding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1965960"/>
            <a:ext cx="2523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Blazor two-way binding (@bind) for zip input, search, filters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ActivitiesViewModel inherits BaseViewModel; state drives UI automatically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[screenshot: src/ActivitiesApp.Maui/ViewModels/ActivitiesViewModel.cs]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A90E2"/>
                </a:solidFill>
              </a:rPr>
              <a:t>SE 3630 — GUI Patterns &amp; Testing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127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508760"/>
            <a:ext cx="5394960" cy="502920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5175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90E2"/>
                </a:solidFill>
              </a:rPr>
              <a:t>GUI Framework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517550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MVVM: ViewModels own state, Razor pages observe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Dependency injection — IActivityService, INetworkStatus, ILocationProvider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NavigationManager for push / pop between pages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Blazor Hybrid = WebView wrapping native Razor rendering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[screenshot: src/ActivitiesApp.Shared/Pages/Activities.razor]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508760"/>
            <a:ext cx="5669280" cy="502920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44768" y="1600200"/>
            <a:ext cx="5449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AF50"/>
                </a:solidFill>
              </a:rPr>
              <a:t>Testing Mobile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1965960"/>
            <a:ext cx="544982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Unit tests: HelpersTests, FuzzySearchServiceTests, ActivityFilterServiceTests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ViewModels tested in ActivitiesApp.ViewModels.Tests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Integration tests hit real Postgres (no mocks) — catches boundary bugs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Playwright E2E tests in playwright-tests/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CI runs lint → unit → integration → build on every PR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[screenshot: tests/ActivitiesApp.Core.Tests/HelpersTests.cs]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A90E2"/>
                </a:solidFill>
              </a:rPr>
              <a:t>SE 3830 — Cloud Learning Outcomes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127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508760"/>
            <a:ext cx="2743200" cy="502920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AF50"/>
                </a:solidFill>
              </a:rPr>
              <a:t>Deploy to Public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2523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App runs on Kubernetes in the cloud at activor.duckdns.org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Self-hosted GitHub Actions runner deploys on every master push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[screenshot: .github/workflows/deploy.yml]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508760"/>
            <a:ext cx="2743200" cy="502920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160020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90E2"/>
                </a:solidFill>
              </a:rPr>
              <a:t>Virt vs Containerization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1965960"/>
            <a:ext cx="2523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Docker containers package API + Web — image tagged with Git SHA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K8s pods schedule containers; each pod is isolated, scalable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No VMs — pure container workloads on shared cluster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08760"/>
            <a:ext cx="2743200" cy="502920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60020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050"/>
                </a:solidFill>
              </a:rPr>
              <a:t>Security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965960"/>
            <a:ext cx="2523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Secrets in K8s Secrets, not env files — injected at runtime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HTTPS via TLS certs auto-renewed by weekly CronJob (certbot + DuckDNS)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Microsoft Entra ID (OIDC) — no passwords stored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RBAC: cert-renewer ServiceAccount scoped to only its secrets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508760"/>
            <a:ext cx="2743200" cy="502920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160020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C107"/>
                </a:solidFill>
              </a:rPr>
              <a:t>Cloud Models (IaaS / PaaS / SaaS)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1965960"/>
            <a:ext cx="2523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IaaS: bare K8s cluster (we manage everything)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PaaS: Azure Blob Storage (backup), GCP Monitoring (metrics)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SaaS: Google Places API, Microsoft Entra ID, DuckDNS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Chose IaaS K8s for control; SaaS for third-party integrations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A90E2"/>
                </a:solidFill>
              </a:rPr>
              <a:t>SE 3830 — CI/CD &amp; Automation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127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508760"/>
            <a:ext cx="5394960" cy="502920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5175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90E2"/>
                </a:solidFill>
              </a:rPr>
              <a:t>Deploy &amp; Manage Code in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517550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Pipeline: lint → unit tests → integration tests → build images → deploy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Docker images tagged with short Git SHA — every deploy traceable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K8s rolling update with zero-downtime verified by k6 smoke test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Database migrations run as K8s Job before pods swap to new image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Postgres daily backups to Azure Blob Storage via CronJob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[screenshot: .github/workflows/deploy.yml (deploy job)]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508760"/>
            <a:ext cx="5669280" cy="502920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44768" y="1600200"/>
            <a:ext cx="5449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AF50"/>
                </a:solidFill>
              </a:rPr>
              <a:t>Automate Compile / Test / 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1965960"/>
            <a:ext cx="544982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pr-environment.yml: lint + unit + integration + image build on every PR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deploy.yml: full pipeline on master push — no manual steps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TLS cert renewal CronJob fires weekly (Wed 14:18 MT, certbot + DuckDNS)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Uptime Kuma monitors activor.duckdns.org continuously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Push notification sent via ntfy if pipeline fails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[screenshot: deploy/k8s/certs/cert-renew-cronjob.yaml]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A90E2"/>
                </a:solidFill>
              </a:rPr>
              <a:t>App Demo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127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</a:rPr>
              <a:t>Live demo — screen-share phone running ActivitiesApp on Android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5760720" cy="214884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194560"/>
            <a:ext cx="5541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90E2"/>
                </a:solidFill>
              </a:rPr>
              <a:t>Home — Discover nearby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560320"/>
            <a:ext cx="554126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GPS location detected, Google Places results + user events merged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Category pills filter (Sports, Food, Music, Outdoors, …)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[screenshot of web app home page: activor.duckdns.org]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2103120"/>
            <a:ext cx="5760720" cy="214884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6248" y="2194560"/>
            <a:ext cx="5541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90E2"/>
                </a:solidFill>
              </a:rPr>
              <a:t>Activities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560320"/>
            <a:ext cx="554126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Distance-sorted cards with photos from Google Places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Fuzzy search — typo tolerant (e.g. 'resturant' finds Restaurant)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[screenshot of Activities page]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389120"/>
            <a:ext cx="5760720" cy="214884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480559"/>
            <a:ext cx="5541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90E2"/>
                </a:solidFill>
              </a:rPr>
              <a:t>Activity Detail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846320"/>
            <a:ext cx="554126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Name, description, cost, age range, time, map pin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Edit/Delete visible only to owner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[screenshot of ActivityDetail page]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4389120"/>
            <a:ext cx="5760720" cy="214884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4480559"/>
            <a:ext cx="5541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90E2"/>
                </a:solidFill>
              </a:rPr>
              <a:t>Create 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4846320"/>
            <a:ext cx="554126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Sign in with Microsoft → form unlocks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Fields: name, city, time, cost, age range, category, description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[screenshot of CreateActivity page]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A90E2"/>
                </a:solidFill>
              </a:rPr>
              <a:t>Backing Services Tour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127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508760"/>
            <a:ext cx="3703320" cy="242316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34838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90E2"/>
                </a:solidFill>
              </a:rPr>
              <a:t>gRPC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3483863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ASP.NET Core — owns all data, auth, Google Places calls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Proto: ListActivities (server streaming), DiscoverActivities, delta sync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[screenshot: src/ActivitiesApp.Api/Protos/activities.proto lines 9–38]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0248" y="1508760"/>
            <a:ext cx="3703320" cy="242316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9976" y="1600200"/>
            <a:ext cx="34838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AF50"/>
                </a:solidFill>
              </a:rPr>
              <a:t>PostgreSQL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1965960"/>
            <a:ext cx="3483863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Primary data store — EF Core migrations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Daily backup CronJob → Azure Blob Storage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Seeded from Cosmos DB on first boot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3296" y="1508760"/>
            <a:ext cx="3703320" cy="242316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3" y="1600200"/>
            <a:ext cx="34838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C107"/>
                </a:solidFill>
              </a:rPr>
              <a:t>Google Places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3023" y="1965960"/>
            <a:ext cx="3483863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Nearby search: GooglePlacesService queries on DiscoverActivities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Photos proxied through API endpoint with 24h in-memory cache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[screenshot: src/ActivitiesApp.Api/Services/GooglePlacesService.cs]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69079"/>
            <a:ext cx="3703320" cy="242316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160519"/>
            <a:ext cx="34838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050"/>
                </a:solidFill>
              </a:rPr>
              <a:t>Kubernetes Cluster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526279"/>
            <a:ext cx="3483863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Manifests in deploy/k8s/ — namespace, app, data, certs, observability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Ingress: activor.duckdns.org (web), grafana.activor.duckdns.org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[screenshot: deploy/k8s/app/]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4069079"/>
            <a:ext cx="3703320" cy="242316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4160519"/>
            <a:ext cx="34838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C27B0"/>
                </a:solidFill>
              </a:rPr>
              <a:t>Observability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4526279"/>
            <a:ext cx="3483863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OTel Collector → Prometheus (metrics) + Loki (logs) → Grafana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Panels: p95 latency, success rate, 5xx count, concurrent users, GCP API usage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[screenshot of Grafana dashboard at grafana.activor.duckdns.org]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4069079"/>
            <a:ext cx="3703320" cy="242316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3" y="4160519"/>
            <a:ext cx="34838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AAAAA"/>
                </a:solidFill>
              </a:rPr>
              <a:t>Microsoft Entra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3" y="4526279"/>
            <a:ext cx="3483863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OIDC — Sign in with Microsoft, no passwords stored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Redirect URI: https://activor.duckdns.org/signin-oidc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MauiAuthenticationStateProvider on mobile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A90E2"/>
                </a:solidFill>
              </a:rPr>
              <a:t>Improvements from Code Reviews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127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508760"/>
            <a:ext cx="5394960" cy="502920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5175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050"/>
                </a:solidFill>
              </a:rPr>
              <a:t>Security &amp; Auth Fixes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517550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Hid Create Activity form for signed-out users — form was accessible without auth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Redirect cancelled sign-ins to home instead of error page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Root-relative sign-in link (was breaking on deep routes)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Fixed security vulnerabilities flagged in review (commits 5b2437f, de765b7)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[screenshot: src/ActivitiesApp.Shared/Pages/CreateActivity.razor — auth guard]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508760"/>
            <a:ext cx="5669280" cy="502920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44768" y="1600200"/>
            <a:ext cx="5449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90E2"/>
                </a:solidFill>
              </a:rPr>
              <a:t>Error Handling &amp; 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1965960"/>
            <a:ext cx="544982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Single error route handler — lowercase + uppercase routes both caught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Errors now redirect home instead of dead-end page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Zero-downtime deployment verified by improved k6 smoke test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Treats compiler warnings as errors (ae9388a) — enforces code quality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Pipeline now posts PR comment with environment status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[screenshot: src/ActivitiesApp.Shared/Pages/NotFound.razor]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A90E2"/>
                </a:solidFill>
              </a:rPr>
              <a:t>Biggest Takeaways — Samuel &amp; Cael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127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508760"/>
            <a:ext cx="5394960" cy="502920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5175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Samuel — Top 2 Lessons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517550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1. Kubernetes is hard until you understand the layering. Getting TLS, ingress, gRPC, and rolling deploys to work together required understanding each layer independently — no shortcut. The cert-renew CronJob alone took multiple debugging iterations.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2. CI/CD is a forcing function for code quality. Having lint + unit + integration + smoke tests run on every push meant broken code never sat in master — but it also meant every shortcut eventually caught up with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508760"/>
            <a:ext cx="5669280" cy="5029200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44768" y="1600200"/>
            <a:ext cx="5449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Cael — Top 2 Lessons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1965960"/>
            <a:ext cx="544982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1. Observability is not optional. Adding Grafana + Prometheus + Loki made it obvious when something was wrong in production — concurrent users, 5xx rate, and log volume gave real signals, not guesses.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2. Mobile lifecycle is different from web. The MAUI app needed explicit handling for offline states, network reconnection, and data sync — things a web app never has to think about. IConnectivity and the delta sync protocol were the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A90E2"/>
                </a:solidFill>
              </a:rPr>
              <a:t>Architecture at a Glance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127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0E2"/>
                </a:solidFill>
              </a:rPr>
              <a:t>MAUI (Android/iOS/Win)   ──gRPC──▶   ASP.NET Core API   ◀──REST──   Blazor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AAAA"/>
                </a:solidFill>
              </a:rPr>
              <a:t>│                                       │                                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AAAA"/>
                </a:solidFill>
              </a:rPr>
              <a:t>Offline Cache                    PostgreSQL 16                     Grafana / Prometheus / Loki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</a:rPr>
              <a:t>(delta sync)                     Cosmos DB (seed)                  OTel Collector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</a:rPr>
              <a:t>                                 Google Places API                 GCP Cloud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</a:rPr>
              <a:t>                                 Microsoft Entra ID (OIDC)         Uptime Kuma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3840480"/>
            <a:ext cx="11247120" cy="0"/>
          </a:xfrm>
          <a:prstGeom prst="line">
            <a:avLst/>
          </a:prstGeom>
          <a:ln w="127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90E2"/>
                </a:solidFill>
              </a:rPr>
              <a:t>CI/CD Pipeline (GitHub Actions)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3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lint  →  unit tests  →  integration tests (real Postgres)  →  build Docker images (SHA tag)  →  deploy to K8s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</a:rPr>
              <a:t>Self-hosted runner applies K8s manifests  ·  EF migrations Job  ·  k6 smoke test  ·  ntfy alert on failure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5120640"/>
            <a:ext cx="11247120" cy="0"/>
          </a:xfrm>
          <a:prstGeom prst="line">
            <a:avLst/>
          </a:prstGeom>
          <a:ln w="127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5212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A90E2"/>
                </a:solidFill>
              </a:rPr>
              <a:t>Live at:  activor.duckdns.org   ·   grafana.activor.duckdns.org   ·   prometheus.activor.duckdns.org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